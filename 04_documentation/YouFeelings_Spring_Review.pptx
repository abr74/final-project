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channels</c:v>
                  </c:pt>
                  <c:pt idx="1">
                    <c:v>Mid channels</c:v>
                  </c:pt>
                  <c:pt idx="2">
                    <c:v>Mean corr.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0.67</c:v>
                </c:pt>
                <c:pt idx="2">
                  <c:v>0.37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Synthetic</c:v>
                </c:pt>
              </c:strCache>
            </c:strRef>
          </c:tx>
          <c:spPr>
            <a:solidFill>
              <a:srgbClr val="77777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channels</c:v>
                  </c:pt>
                  <c:pt idx="1">
                    <c:v>Mid channels</c:v>
                  </c:pt>
                  <c:pt idx="2">
                    <c:v>Mean corr.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0.29</c:v>
                </c:pt>
                <c:pt idx="2">
                  <c:v>0.39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Labels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Creator</c:v>
                  </c:pt>
                  <c:pt idx="1">
                    <c:v>Content</c:v>
                  </c:pt>
                  <c:pt idx="2">
                    <c:v>Entertainment</c:v>
                  </c:pt>
                  <c:pt idx="3">
                    <c:v>Production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1211</c:v>
                </c:pt>
                <c:pt idx="1">
                  <c:v>210</c:v>
                </c:pt>
                <c:pt idx="2">
                  <c:v>33</c:v>
                </c:pt>
                <c:pt idx="3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E5A"/>
              </a:solidFill>
              <a:effectLst/>
            </c:spPr>
          </c:dPt>
          <c:dPt>
            <c:idx val="1"/>
            <c:bubble3D val="0"/>
            <c:spPr>
              <a:solidFill>
                <a:srgbClr val="CC0000"/>
              </a:solidFill>
              <a:effectLst/>
            </c:spPr>
          </c:dPt>
          <c:dPt>
            <c:idx val="2"/>
            <c:bubble3D val="0"/>
            <c:spPr>
              <a:solidFill>
                <a:srgbClr val="BBBBB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 (2,141)</c:v>
                </c:pt>
                <c:pt idx="1">
                  <c:v>Negative (271)</c:v>
                </c:pt>
                <c:pt idx="2">
                  <c:v>Neutral (0)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2141</c:v>
                </c:pt>
                <c:pt idx="1">
                  <c:v>271</c:v>
                </c:pt>
                <c:pt idx="2">
                  <c:v>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3" name="Image 0" descr="/home/claude/yf/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528" y="777240"/>
            <a:ext cx="5120640" cy="2108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54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5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QUARTER REVIEW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Aspect-Based Hybrid YouTube Recommender System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815688" y="4160520"/>
            <a:ext cx="256032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Samyak Dubey      Ashab Rahman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800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492  ·  Senior Design  ·  Drexel University  ·  Spring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51389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 Prof. Jeff Salvage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Team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5029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53412" y="2313432"/>
            <a:ext cx="1911096" cy="1911096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0" name="Image 0" descr="/home/claude/yf/s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377440"/>
            <a:ext cx="1783080" cy="178308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3251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Samyak Dubey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7240" y="4782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/ Data Engineer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5840" y="518464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ABSA  ·  NCF (NeuMF)  ·  Gaussian-Copula synthesis  ·  YouTube scraper  ·  AWS pipeline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965960"/>
            <a:ext cx="5029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31252" y="2313432"/>
            <a:ext cx="1911096" cy="1911096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6" name="Image 1" descr="/home/claude/yf/ash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260" y="2377440"/>
            <a:ext cx="1783080" cy="1783080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5080" y="43251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Ashab Rahman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355080" y="4782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/ Integration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83680" y="518464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  ·  Takeout parser  ·  API integration  ·  UI / UX  ·  live demo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19842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&amp; Spring Goals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23134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the hybrid solution, and what we set out to 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1088136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791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2697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302666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scraper, Takeout parser, BERT ABSA pipeline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1088136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9242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54480" y="34107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Synthetic Generation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37398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watch history + Gaussian Copula users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1088136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05656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54480" y="41239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ABSA — Results &amp; Findings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44531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statistics and the imbalance we found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64024"/>
            <a:ext cx="1088136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1888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554480" y="48371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Requirements Traceability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54480" y="51663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verifiably done vs. pending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77256"/>
            <a:ext cx="1088136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3212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554480" y="55504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Problems &amp; Summer Plan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54480" y="587959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and the roadmap to a deployed prototype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&amp; Our Approach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ranks by watch-time and popularity — it never explains WHY you liked something, so it can't act on aspect-level taste.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352958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514600"/>
            <a:ext cx="3529584" cy="8229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69464"/>
            <a:ext cx="3529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ABSA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434340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aspect sentiment from comments — the WHY behind taste.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79392" y="2514600"/>
            <a:ext cx="352958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9392" y="2514600"/>
            <a:ext cx="3529584" cy="82296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4279392" y="2569464"/>
            <a:ext cx="3529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07992" y="352044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Collaborative Filtering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53712" y="434340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user–item patterns from watch history (GMF + MLP → NeuMF).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55864" y="2514600"/>
            <a:ext cx="352958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55864" y="2514600"/>
            <a:ext cx="3529584" cy="8229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55864" y="2569464"/>
            <a:ext cx="3529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284464" y="3520440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Content-Based Filtering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0184" y="4343400"/>
            <a:ext cx="2980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on channel metadata — the cold-start safety net.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fusion:  </a:t>
            </a:r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Score = 0.40·BERT  +  0.35·NCF  +  0.25·Content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QUARTER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 → Status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201400" cy="534924"/>
          </a:xfrm>
          <a:prstGeom prst="rect">
            <a:avLst/>
          </a:prstGeom>
          <a:solidFill>
            <a:srgbClr val="F6F6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99567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874520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SRS v2.0 (40+ requirements)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49240" y="1874520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1874520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phases + timeline, R3.1.1–R6.2.7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53060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409444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 Comments Scraper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49240" y="2409444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86600" y="2409444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Quota-aware (YouTube Data API v3), graceful 403/404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2944368"/>
            <a:ext cx="11201400" cy="534924"/>
          </a:xfrm>
          <a:prstGeom prst="rect">
            <a:avLst/>
          </a:prstGeom>
          <a:solidFill>
            <a:srgbClr val="F6F6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6552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944368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Takeout Parser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49240" y="2944368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086600" y="2944368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unit tests passing · merged to main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60045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479292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Data (Gaussian Copula)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349240" y="3479292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086600" y="3479292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synthetic users across 151 channels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02920" y="4014216"/>
            <a:ext cx="11201400" cy="534924"/>
          </a:xfrm>
          <a:prstGeom prst="rect">
            <a:avLst/>
          </a:prstGeom>
          <a:solidFill>
            <a:srgbClr val="F6F6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135374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014216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ABSA Pipeline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349240" y="4014216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Done*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086600" y="4014216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End-to-end; trained on bootstrap synthetic labels</a:t>
            </a:r>
            <a:endParaRPr lang="en-US" sz="12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67029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51560" y="4549140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NCF Model (NeuMF)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349240" y="4549140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0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086600" y="4549140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set; training on parser output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02920" y="5084064"/>
            <a:ext cx="11201400" cy="534924"/>
          </a:xfrm>
          <a:prstGeom prst="rect">
            <a:avLst/>
          </a:prstGeom>
          <a:solidFill>
            <a:srgbClr val="F6F6F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520522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1560" y="5084064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Fusion Layer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5349240" y="5084064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0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7086600" y="5084064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ranking of all three models — actively integrating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5740146"/>
            <a:ext cx="292608" cy="29260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51560" y="5618988"/>
            <a:ext cx="42976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 + Live Demo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5349240" y="5618988"/>
            <a:ext cx="17373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0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7086600" y="5618988"/>
            <a:ext cx="45720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prototype; demoing the end-to-end flow now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BERT pipeline is fully built and trains end-to-end; final accuracy metrics await human-annotated labels (see Findings).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6F6F6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2648" y="3218688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history (CSV)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scraped comments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CC0000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938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ABSA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55848" y="230428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sentiment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heads × 4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127248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990011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3236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NCF (NeuMF)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355848" y="360273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GMF + MLP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user/item embeddings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42519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3A3A3A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4361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Filter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355848" y="472744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channel metadata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629400" y="260604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4141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Fusion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39128" y="3081528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40%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35%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25%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84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555480" y="27432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6F6F6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4692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UI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665208" y="3218688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explained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inputs  →  three independent model scores  →  normalized weighted fusion  →  ranked recommendations served in the web app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Acquisition Pipeline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84832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03704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103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 Comments Scraper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7432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Quota-aware client over the YouTube Data API v3 (10,000-unit/day budget, 500-unit safety margin).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commentThreads.list paginated to a 500-comment cap; graceful handling of HTTP 403 / 404.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length + spam cleaning → comments_cleaned.csv.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182880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084832"/>
            <a:ext cx="566928" cy="566928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20370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103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Takeout Parser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492240" y="27432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HTML &amp; JSON watch-history exports into a 7-column schema.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an implicit rating from watch frequency (repeat views → higher).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unit tests passing · parser branch merged to main.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2920" y="4434840"/>
            <a:ext cx="269748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02920" y="46360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41,036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502920" y="5367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watch-history rows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19272" y="4434840"/>
            <a:ext cx="269748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319272" y="46360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34,654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3319272" y="5367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videos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135624" y="4434840"/>
            <a:ext cx="269748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135624" y="46360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6135624" y="5367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seed users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951976" y="4434840"/>
            <a:ext cx="269748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8951976" y="46360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600" dirty="0"/>
          </a:p>
        </p:txBody>
      </p:sp>
      <p:sp>
        <p:nvSpPr>
          <p:cNvPr id="29" name="Text 25"/>
          <p:cNvSpPr/>
          <p:nvPr/>
        </p:nvSpPr>
        <p:spPr>
          <a:xfrm>
            <a:off x="8951976" y="5367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columns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Users — Gaussian Copula (SDV)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669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Copula?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models inter-channel dependencies — which channels are co-watched (e.g. Markiplier ↔ JackSepticeye) — then samples new users that preserve those co-viewing patterns, which naive perturbation cannot.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diverse real users (target 10–15)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GaussianCopulaSynthesizer on the binarized user–channel matrix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500–800 synthetic profiles (plan)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distribution match vs. real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285232" cy="4023360"/>
          </a:xfrm>
          <a:prstGeom prst="rect">
            <a:avLst/>
          </a:prstGeom>
          <a:solidFill>
            <a:srgbClr val="14141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Results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3957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103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synthetic users   </a:t>
            </a:r>
            <a:pPr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151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channels</a:t>
            </a:r>
            <a:endParaRPr lang="en-US" sz="3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537960" y="306324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67512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Top-frequency channels match exactly; mid/low frequencies under-fit — a direct consequence of only 3 seed users.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ABSA — Architecture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F6F6F6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 Comment (raw text)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3408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F6F6F6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6032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Tokenizer  —  256 tokens max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0723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CC0000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9184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bert-base-uncased  —  768-dim [CLS]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74720" y="3803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Dense 768 → 256  ·  ReLU  ·  Dropout 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800600"/>
            <a:ext cx="1225296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4910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5294376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/ none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83080" y="4800600"/>
            <a:ext cx="1225296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1801368" y="4910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Entertainment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10512" y="5294376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/ none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63240" y="4800600"/>
            <a:ext cx="1225296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Text 24"/>
          <p:cNvSpPr/>
          <p:nvPr/>
        </p:nvSpPr>
        <p:spPr>
          <a:xfrm>
            <a:off x="3081528" y="4910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90672" y="5294376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/ none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4800600"/>
            <a:ext cx="1225296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4361688" y="4910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70832" y="5294376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/ none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4800600"/>
            <a:ext cx="1225296" cy="960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/>
          <p:nvPr/>
        </p:nvSpPr>
        <p:spPr>
          <a:xfrm>
            <a:off x="5641848" y="4910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Informativeness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50992" y="5294376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/ none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softmax heads  →  multi-task, multi-label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23760" y="1874520"/>
            <a:ext cx="44622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1874520"/>
            <a:ext cx="4462272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187452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06640" y="25603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0" y="25603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bert-base-uncased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23760" y="2898648"/>
            <a:ext cx="4462272" cy="329184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2898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0" y="289864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109.7 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06640" y="32369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601200" y="323697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223760" y="3575304"/>
            <a:ext cx="4462272" cy="329184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46" name="Text 44"/>
          <p:cNvSpPr/>
          <p:nvPr/>
        </p:nvSpPr>
        <p:spPr>
          <a:xfrm>
            <a:off x="7406640" y="3575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01200" y="35753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06640" y="39136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(BERT layers)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0" y="39136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2e-5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223760" y="4251960"/>
            <a:ext cx="4462272" cy="329184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51" name="Text 49"/>
          <p:cNvSpPr/>
          <p:nvPr/>
        </p:nvSpPr>
        <p:spPr>
          <a:xfrm>
            <a:off x="7406640" y="4251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(heads)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01200" y="42519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06640" y="45902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601200" y="45902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(early stop, patience 2)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223760" y="4928616"/>
            <a:ext cx="4462272" cy="329184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56" name="Text 54"/>
          <p:cNvSpPr/>
          <p:nvPr/>
        </p:nvSpPr>
        <p:spPr>
          <a:xfrm>
            <a:off x="7406640" y="49286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601200" y="49286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406640" y="52669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601200" y="526694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 linear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223760" y="5605272"/>
            <a:ext cx="4462272" cy="329184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61" name="Text 59"/>
          <p:cNvSpPr/>
          <p:nvPr/>
        </p:nvSpPr>
        <p:spPr>
          <a:xfrm>
            <a:off x="7406640" y="56052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601200" y="5605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/ 15 / 15  stratified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ABSA — Training Data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783080"/>
            <a:ext cx="91440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93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2,412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2532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rows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19272" y="17830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783080"/>
            <a:ext cx="91440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19293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1,948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10712" y="2532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comments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35624" y="17830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783080"/>
            <a:ext cx="91440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19293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27064" y="2532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categories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51976" y="17830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51976" y="1783080"/>
            <a:ext cx="91440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9043416" y="192938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109.7M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043416" y="2532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 Distribution</a:t>
            </a:r>
            <a:endParaRPr lang="en-US" sz="15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3520440"/>
          <a:ext cx="57607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676656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Split</a:t>
            </a:r>
            <a:endParaRPr lang="en-US" sz="15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6675120" y="3383280"/>
          <a:ext cx="49377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dataset from a rule-based synthetic labeler — final per-aspect metrics pending human annotation.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— What We Found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874520"/>
            <a:ext cx="109728" cy="17830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039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 Imbalance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2441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(1,211) dominates; Production (39) is severely under-represented. The model will read creator sentiment well but stay weak on production quality.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874520"/>
            <a:ext cx="109728" cy="17830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2039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Imbalance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6248" y="2441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2,141 positive vs 271 negative and zero neutral. The rule labeler has no neutral rules, so the model cannot predict neutral at 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86200"/>
            <a:ext cx="109728" cy="1783080"/>
          </a:xfrm>
          <a:prstGeom prst="rect">
            <a:avLst/>
          </a:prstGeom>
          <a:solidFill>
            <a:srgbClr val="C08008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40507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Gaps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44531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(29) and Entertainment (33) are thin vs Self-improvement (210), risking biased predictions for under-sampled content types.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88620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886200"/>
            <a:ext cx="109728" cy="178308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0507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Working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6248" y="44531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end-to-end: scraper → labeler → tokenizer → BERT + 5 heads → training loop with early stopping. 70/15/15 stratified.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Requirements Traceability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unit tests — 35 passing, covering format variants &amp; schema.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— synthetic distribution checked against real (top channels 1.00↔1.00).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split — 70/15/15 with category stratification (1,363 / 292 / 293).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 on every CSV crossing a module boundary.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sanity — content-filter cosine, NCF loss convergence.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Priority-1 Requirement Status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376672" cy="5486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(scraper + parser)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10412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852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+ validation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104120" y="28529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419856"/>
            <a:ext cx="5376672" cy="5486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4198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ABSA aspect extraction pipeline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104120" y="34198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9867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user–item modeling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104120" y="39867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80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553712"/>
            <a:ext cx="5376672" cy="54864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5537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weighted fusion + ranking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104120" y="45537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80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5120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 upload → analyze → recommend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10412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80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57790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(per advisor rubric): demo the working system, prove Priority-1 requirements, and supply test cases.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Problems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103120"/>
            <a:ext cx="603504" cy="603504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231136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9751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training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63040" y="232257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currently trains on CPU — must move to a SageMaker GPU instance for the full fine-tune.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103120"/>
            <a:ext cx="603504" cy="603504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231136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9751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annotations pending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223760" y="232257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labels have 0 neutral and skewed aspects; ~10–20+ human-labeled batches needed for a trustworthy model.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3163824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3438144"/>
            <a:ext cx="603504" cy="603504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5661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3101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 real-user seed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463040" y="365760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real users → weak mid/low channel correlations in synthetic data; need more participants (Prolific).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3163824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46520" y="3438144"/>
            <a:ext cx="603504" cy="603504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56616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23760" y="33101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evaluation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223760" y="365760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HR@K / NDCG@K on held-out real users isn't measured yet — the key number for the final report.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02920" y="4498848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5800" y="4773168"/>
            <a:ext cx="603504" cy="603504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90118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63040" y="46451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calibration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463040" y="499262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the three score scales so the 40/35/25 weights are meaningful — the core of the fusion work in progress.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6263640" y="4498848"/>
            <a:ext cx="5440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446520" y="4773168"/>
            <a:ext cx="603504" cy="603504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4901184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23760" y="46451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start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7223760" y="499262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have no NCF signal; need a content-based fallback path until interactions accumulate.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QUARTER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Summer Roadmap → Deployed Prototype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0" cy="164592"/>
          </a:xfrm>
          <a:prstGeom prst="line">
            <a:avLst/>
          </a:prstGeom>
          <a:noFill/>
          <a:ln w="25400">
            <a:solidFill>
              <a:srgbClr val="E0A0A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417320" y="19659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Human-label &amp; retrain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27685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bootstrap labels; retrain BERT on GPU → real per-aspect metrics.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79192"/>
            <a:ext cx="548640" cy="5486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3227832"/>
            <a:ext cx="0" cy="164592"/>
          </a:xfrm>
          <a:prstGeom prst="line">
            <a:avLst/>
          </a:prstGeom>
          <a:noFill/>
          <a:ln w="25400">
            <a:solidFill>
              <a:srgbClr val="E0A0A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417320" y="267919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train NCF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900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NeuMF on parser output; evaluate HR@K / NDCG@K on held-out real users.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392424"/>
            <a:ext cx="548640" cy="5486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92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4400" y="3941064"/>
            <a:ext cx="0" cy="164592"/>
          </a:xfrm>
          <a:prstGeom prst="line">
            <a:avLst/>
          </a:prstGeom>
          <a:noFill/>
          <a:ln w="25400">
            <a:solidFill>
              <a:srgbClr val="E0A0A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417320" y="339242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Finalize fusion + profiler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03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score normalization &amp; 40/35/25 weights; add the per-user aspect profiler.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105656"/>
            <a:ext cx="548640" cy="5486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14400" y="4654296"/>
            <a:ext cx="0" cy="164592"/>
          </a:xfrm>
          <a:prstGeom prst="line">
            <a:avLst/>
          </a:prstGeom>
          <a:noFill/>
          <a:ln w="25400">
            <a:solidFill>
              <a:srgbClr val="E0A0A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417320" y="410565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Recruit real users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4165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Prolific crowdsourcing → richer seed → stronger synthetic data.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818888"/>
            <a:ext cx="548640" cy="5486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14400" y="5367528"/>
            <a:ext cx="0" cy="164592"/>
          </a:xfrm>
          <a:prstGeom prst="line">
            <a:avLst/>
          </a:prstGeom>
          <a:noFill/>
          <a:ln w="25400">
            <a:solidFill>
              <a:srgbClr val="E0A0A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417320" y="481888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 &amp; deploy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17320" y="51297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working prototype to AWS (SageMaker endpoint, S3, EC2) and scale it.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17320" y="55321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report &amp; guide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7320" y="58430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evaluation, user guide; acceptance against Priority-1 reqs.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YouFeelings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Project Management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 ·  Spring Quarter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Dubey — ML/Data: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BERT ABSA, NCF, Gaussian Copula synthesis, scraper, AWS pipeline.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Ashab Rahman — Frontend/Integration: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 app, Takeout parser, API integration, demo prep.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40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agile sprints with demos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— branch + PR review workflow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 tracking · Gantt timeline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advisor check-ins · Discord standups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160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SageMaker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30552" y="416052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2130552" y="4160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HuggingFace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58184" y="416052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4160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85816" y="416052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5385816" y="4160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SDV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13448" y="416052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7013448" y="4160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41080" y="416052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4160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React.js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268712" y="416052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/>
        </p:spPr>
      </p:sp>
      <p:sp>
        <p:nvSpPr>
          <p:cNvPr id="27" name="Text 25"/>
          <p:cNvSpPr/>
          <p:nvPr/>
        </p:nvSpPr>
        <p:spPr>
          <a:xfrm>
            <a:off x="10268712" y="416052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96112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 web application — current prototype walkthrough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96112" y="26060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15084" y="2898648"/>
            <a:ext cx="768096" cy="768096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8" name="Text 5"/>
          <p:cNvSpPr/>
          <p:nvPr/>
        </p:nvSpPr>
        <p:spPr>
          <a:xfrm>
            <a:off x="1815084" y="2898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33272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78992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upload watch history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83864" y="3429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3749040" y="26060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8012" y="2898648"/>
            <a:ext cx="768096" cy="768096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4668012" y="2898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88620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Analyzing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93192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+ NCF + content pipeline runs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36792" y="3429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6601968" y="26060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20940" y="2898648"/>
            <a:ext cx="768096" cy="768096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7520940" y="2898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739128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Taste Profile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784848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Per-aspect preference breakdown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34290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400" dirty="0"/>
          </a:p>
        </p:txBody>
      </p:sp>
      <p:sp>
        <p:nvSpPr>
          <p:cNvPr id="24" name="Shape 21"/>
          <p:cNvSpPr/>
          <p:nvPr/>
        </p:nvSpPr>
        <p:spPr>
          <a:xfrm>
            <a:off x="9454896" y="26060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373868" y="2898648"/>
            <a:ext cx="768096" cy="768096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10373868" y="2898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9592056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9637776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cards with “Why we recommend this”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96112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youfeelings.app   ·   powered by  BERT  ·  NCF  ·  Content AI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yf/logo_t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6968" y="1371600"/>
            <a:ext cx="4937760" cy="20336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38328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815688" y="4663440"/>
            <a:ext cx="256032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Dubey  ·  Ashab Rahman    |    CI 492 · Drexel University · Spring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YouFeelings — Spring Quarter Review</dc:title>
  <dc:subject>PptxGenJS Presentation</dc:subject>
  <dc:creator>Samyak Dubey &amp; Ashab Rahman</dc:creator>
  <cp:lastModifiedBy>Samyak Dubey &amp; Ashab Rahman</cp:lastModifiedBy>
  <cp:revision>1</cp:revision>
  <dcterms:created xsi:type="dcterms:W3CDTF">2026-06-02T21:58:14Z</dcterms:created>
  <dcterms:modified xsi:type="dcterms:W3CDTF">2026-06-02T21:58:14Z</dcterms:modified>
</cp:coreProperties>
</file>